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
  </p:notesMasterIdLst>
  <p:sldIdLst>
    <p:sldId id="256" r:id="rId2"/>
    <p:sldId id="257" r:id="rId3"/>
    <p:sldId id="260" r:id="rId4"/>
  </p:sldIdLst>
  <p:sldSz cx="12192000" cy="6858000"/>
  <p:notesSz cx="6858000" cy="9144000"/>
  <p:embeddedFontLst>
    <p:embeddedFont>
      <p:font typeface="Play" pitchFamily="2" charset="0"/>
      <p:regular r:id="rId6"/>
      <p:bold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 roundtripDataSignature="AMtx7miEBe/sqaUOJH3UZ9F4w+H/i9xR9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ECC1CA-22D3-4AB7-A2F2-1B583B72572F}">
  <a:tblStyle styleId="{20ECC1CA-22D3-4AB7-A2F2-1B583B72572F}"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customschemas.google.com/relationships/presentationmetadata" Target="metadata"/><Relationship Id="rId5" Type="http://schemas.openxmlformats.org/officeDocument/2006/relationships/notesMaster" Target="notesMasters/notesMaster1.xml"/><Relationship Id="rId15" Type="http://schemas.openxmlformats.org/officeDocument/2006/relationships/tableStyles" Target="tableStyles.xml"/><Relationship Id="rId4"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434999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b3d3acca01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g3b3d3acca01_1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792221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3d3acca01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b3d3acca01_2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723148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b3d3acca01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g3b3d3acca01_2_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140002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22"/>
        <p:cNvGrpSpPr/>
        <p:nvPr/>
      </p:nvGrpSpPr>
      <p:grpSpPr>
        <a:xfrm>
          <a:off x="0" y="0"/>
          <a:ext cx="0" cy="0"/>
          <a:chOff x="0" y="0"/>
          <a:chExt cx="0" cy="0"/>
        </a:xfrm>
      </p:grpSpPr>
      <p:sp>
        <p:nvSpPr>
          <p:cNvPr id="23" name="Google Shape;23;p9"/>
          <p:cNvSpPr txBox="1">
            <a:spLocks noGrp="1"/>
          </p:cNvSpPr>
          <p:nvPr>
            <p:ph type="title"/>
          </p:nvPr>
        </p:nvSpPr>
        <p:spPr>
          <a:xfrm>
            <a:off x="108858" y="372227"/>
            <a:ext cx="874122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body" idx="1"/>
          </p:nvPr>
        </p:nvSpPr>
        <p:spPr>
          <a:xfrm>
            <a:off x="108858" y="1851401"/>
            <a:ext cx="8741228"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26" name="Google Shape;26;p9"/>
          <p:cNvPicPr preferRelativeResize="0"/>
          <p:nvPr/>
        </p:nvPicPr>
        <p:blipFill rotWithShape="1">
          <a:blip r:embed="rId2">
            <a:alphaModFix/>
          </a:blip>
          <a:srcRect/>
          <a:stretch/>
        </p:blipFill>
        <p:spPr>
          <a:xfrm>
            <a:off x="-2752538" y="1715699"/>
            <a:ext cx="7553104" cy="74109"/>
          </a:xfrm>
          <a:prstGeom prst="rect">
            <a:avLst/>
          </a:prstGeom>
          <a:noFill/>
          <a:ln>
            <a:noFill/>
          </a:ln>
        </p:spPr>
      </p:pic>
      <p:sp>
        <p:nvSpPr>
          <p:cNvPr id="27" name="Google Shape;27;p9"/>
          <p:cNvSpPr/>
          <p:nvPr/>
        </p:nvSpPr>
        <p:spPr>
          <a:xfrm>
            <a:off x="9005455" y="0"/>
            <a:ext cx="3186545" cy="6858000"/>
          </a:xfrm>
          <a:prstGeom prst="rect">
            <a:avLst/>
          </a:prstGeom>
          <a:solidFill>
            <a:srgbClr val="4C4C4C"/>
          </a:solidFill>
          <a:ln>
            <a:noFill/>
          </a:ln>
        </p:spPr>
        <p:txBody>
          <a:bodyPr spcFirstLastPara="1" wrap="square" lIns="91425" tIns="45700" rIns="91425" bIns="45700" anchor="ctr" anchorCtr="0">
            <a:noAutofit/>
          </a:bodyPr>
          <a:lstStyle/>
          <a:p>
            <a:pPr marL="342900" marR="0" lvl="0" indent="-266700" algn="l" rtl="0">
              <a:lnSpc>
                <a:spcPct val="100000"/>
              </a:lnSpc>
              <a:spcBef>
                <a:spcPts val="0"/>
              </a:spcBef>
              <a:spcAft>
                <a:spcPts val="0"/>
              </a:spcAft>
              <a:buClr>
                <a:schemeClr val="dk1"/>
              </a:buClr>
              <a:buSzPts val="1200"/>
              <a:buFont typeface="Arial"/>
              <a:buNone/>
            </a:pPr>
            <a:endParaRPr sz="12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8"/>
        <p:cNvGrpSpPr/>
        <p:nvPr/>
      </p:nvGrpSpPr>
      <p:grpSpPr>
        <a:xfrm>
          <a:off x="0" y="0"/>
          <a:ext cx="0" cy="0"/>
          <a:chOff x="0" y="0"/>
          <a:chExt cx="0" cy="0"/>
        </a:xfrm>
      </p:grpSpPr>
      <p:sp>
        <p:nvSpPr>
          <p:cNvPr id="29" name="Google Shape;29;p11"/>
          <p:cNvSpPr txBox="1">
            <a:spLocks noGrp="1"/>
          </p:cNvSpPr>
          <p:nvPr>
            <p:ph type="title"/>
          </p:nvPr>
        </p:nvSpPr>
        <p:spPr>
          <a:xfrm>
            <a:off x="97971" y="365125"/>
            <a:ext cx="1125582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1"/>
          <p:cNvSpPr txBox="1">
            <a:spLocks noGrp="1"/>
          </p:cNvSpPr>
          <p:nvPr>
            <p:ph type="body" idx="1"/>
          </p:nvPr>
        </p:nvSpPr>
        <p:spPr>
          <a:xfrm>
            <a:off x="97971" y="1825625"/>
            <a:ext cx="11255829"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33" name="Google Shape;33;p11"/>
          <p:cNvPicPr preferRelativeResize="0"/>
          <p:nvPr/>
        </p:nvPicPr>
        <p:blipFill rotWithShape="1">
          <a:blip r:embed="rId2">
            <a:alphaModFix/>
          </a:blip>
          <a:srcRect/>
          <a:stretch/>
        </p:blipFill>
        <p:spPr>
          <a:xfrm>
            <a:off x="-2752538" y="1715699"/>
            <a:ext cx="7553104" cy="7410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34"/>
        <p:cNvGrpSpPr/>
        <p:nvPr/>
      </p:nvGrpSpPr>
      <p:grpSpPr>
        <a:xfrm>
          <a:off x="0" y="0"/>
          <a:ext cx="0" cy="0"/>
          <a:chOff x="0" y="0"/>
          <a:chExt cx="0" cy="0"/>
        </a:xfrm>
      </p:grpSpPr>
      <p:sp>
        <p:nvSpPr>
          <p:cNvPr id="35" name="Google Shape;35;p12"/>
          <p:cNvSpPr txBox="1">
            <a:spLocks noGrp="1"/>
          </p:cNvSpPr>
          <p:nvPr>
            <p:ph type="title"/>
          </p:nvPr>
        </p:nvSpPr>
        <p:spPr>
          <a:xfrm>
            <a:off x="838201" y="365125"/>
            <a:ext cx="804454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2"/>
          <p:cNvSpPr txBox="1">
            <a:spLocks noGrp="1"/>
          </p:cNvSpPr>
          <p:nvPr>
            <p:ph type="body" idx="1"/>
          </p:nvPr>
        </p:nvSpPr>
        <p:spPr>
          <a:xfrm>
            <a:off x="838201" y="1825625"/>
            <a:ext cx="8044542"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38" name="Google Shape;3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2"/>
          <p:cNvSpPr/>
          <p:nvPr/>
        </p:nvSpPr>
        <p:spPr>
          <a:xfrm>
            <a:off x="9005455" y="0"/>
            <a:ext cx="3186545" cy="6858000"/>
          </a:xfrm>
          <a:prstGeom prst="rect">
            <a:avLst/>
          </a:prstGeom>
          <a:solidFill>
            <a:srgbClr val="4C4C4C"/>
          </a:solidFill>
          <a:ln>
            <a:noFill/>
          </a:ln>
        </p:spPr>
        <p:txBody>
          <a:bodyPr spcFirstLastPara="1" wrap="square" lIns="91425" tIns="45700" rIns="91425" bIns="45700" anchor="ctr" anchorCtr="0">
            <a:noAutofit/>
          </a:bodyPr>
          <a:lstStyle/>
          <a:p>
            <a:pPr marL="342900" marR="0" lvl="0" indent="-266700" algn="l" rtl="0">
              <a:lnSpc>
                <a:spcPct val="100000"/>
              </a:lnSpc>
              <a:spcBef>
                <a:spcPts val="0"/>
              </a:spcBef>
              <a:spcAft>
                <a:spcPts val="0"/>
              </a:spcAft>
              <a:buClr>
                <a:schemeClr val="dk1"/>
              </a:buClr>
              <a:buSzPts val="1200"/>
              <a:buFont typeface="Arial"/>
              <a:buNone/>
            </a:pPr>
            <a:endParaRPr sz="12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3" name="Google Shape;43;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4" name="Google Shape;44;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1" name="Google Shape;5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1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6" name="Google Shape;56;p1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1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0" name="Google Shape;6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1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0" name="Google Shape;70;p1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8"/>
          <p:cNvSpPr>
            <a:spLocks noGrp="1"/>
          </p:cNvSpPr>
          <p:nvPr>
            <p:ph type="pic" idx="2"/>
          </p:nvPr>
        </p:nvSpPr>
        <p:spPr>
          <a:xfrm>
            <a:off x="5183188" y="987425"/>
            <a:ext cx="6172200" cy="4873625"/>
          </a:xfrm>
          <a:prstGeom prst="rect">
            <a:avLst/>
          </a:prstGeom>
          <a:noFill/>
          <a:ln>
            <a:noFill/>
          </a:ln>
        </p:spPr>
      </p:sp>
      <p:sp>
        <p:nvSpPr>
          <p:cNvPr id="77" name="Google Shape;77;p1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8" name="Google Shape;7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79" name="Google Shape;7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5" name="Google Shape;8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2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2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1" name="Google Shape;9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 name="Google Shape;10;p7"/>
          <p:cNvPicPr preferRelativeResize="0"/>
          <p:nvPr/>
        </p:nvPicPr>
        <p:blipFill rotWithShape="1">
          <a:blip r:embed="rId14">
            <a:alphaModFix/>
          </a:blip>
          <a:srcRect/>
          <a:stretch/>
        </p:blipFill>
        <p:spPr>
          <a:xfrm>
            <a:off x="309887" y="6307169"/>
            <a:ext cx="2333409" cy="46348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97" name="Google Shape;97;g3b3d3acca01_1_16"/>
          <p:cNvGraphicFramePr/>
          <p:nvPr>
            <p:extLst>
              <p:ext uri="{D42A27DB-BD31-4B8C-83A1-F6EECF244321}">
                <p14:modId xmlns:p14="http://schemas.microsoft.com/office/powerpoint/2010/main" val="3376421255"/>
              </p:ext>
            </p:extLst>
          </p:nvPr>
        </p:nvGraphicFramePr>
        <p:xfrm>
          <a:off x="936175" y="1970300"/>
          <a:ext cx="10287000" cy="3291720"/>
        </p:xfrm>
        <a:graphic>
          <a:graphicData uri="http://schemas.openxmlformats.org/drawingml/2006/table">
            <a:tbl>
              <a:tblPr>
                <a:noFill/>
                <a:tableStyleId>{20ECC1CA-22D3-4AB7-A2F2-1B583B72572F}</a:tableStyleId>
              </a:tblPr>
              <a:tblGrid>
                <a:gridCol w="1485900">
                  <a:extLst>
                    <a:ext uri="{9D8B030D-6E8A-4147-A177-3AD203B41FA5}">
                      <a16:colId xmlns:a16="http://schemas.microsoft.com/office/drawing/2014/main" val="20000"/>
                    </a:ext>
                  </a:extLst>
                </a:gridCol>
                <a:gridCol w="88011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dirty="0"/>
                        <a:t>Task Type</a:t>
                      </a:r>
                      <a:endParaRPr sz="1400" b="1" u="none" strike="noStrike" cap="none" dirty="0"/>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t>Individual work</a:t>
                      </a:r>
                      <a:endParaRPr sz="1400" u="none" strike="noStrike" cap="none"/>
                    </a:p>
                  </a:txBody>
                  <a:tcPr marL="91425" marR="91425" marT="91425" marB="91425" anchor="ct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Description</a:t>
                      </a:r>
                      <a:endParaRPr sz="1400" b="1" u="none" strike="noStrike" cap="none"/>
                    </a:p>
                  </a:txBody>
                  <a:tcPr marL="91425" marR="91425" marT="91425" marB="91425" anchor="ctr"/>
                </a:tc>
                <a:tc>
                  <a:txBody>
                    <a:bodyPr/>
                    <a:lstStyle/>
                    <a:p>
                      <a:pPr marL="0" marR="0" lvl="0" indent="0" algn="just" rtl="0">
                        <a:lnSpc>
                          <a:spcPct val="100000"/>
                        </a:lnSpc>
                        <a:spcBef>
                          <a:spcPts val="0"/>
                        </a:spcBef>
                        <a:spcAft>
                          <a:spcPts val="0"/>
                        </a:spcAft>
                        <a:buNone/>
                      </a:pPr>
                      <a:r>
                        <a:rPr lang="en-US" sz="1400" b="0" i="0" u="none" strike="noStrike" cap="none" dirty="0">
                          <a:solidFill>
                            <a:srgbClr val="000000"/>
                          </a:solidFill>
                          <a:effectLst/>
                          <a:latin typeface="Arial"/>
                          <a:ea typeface="Arial"/>
                          <a:cs typeface="Arial"/>
                          <a:sym typeface="Arial"/>
                        </a:rPr>
                        <a:t>In this workshop, students will analyze a housing dataset using different statistical techniques. They will begin by exploring relationships between numerical variables through a correlation matrix and heatmap to identify key factors affecting house prices. Next, they will apply a t-test and z-test to compare mean prices and determine whether differences are statistically significant. They will also use chi-square tests to examine relationships between categorical variables such as furnishing status, preferred area, and housing features. Finally, students will interpret all results to draw meaningful conclusions about the factors influencing house prices.</a:t>
                      </a:r>
                      <a:endParaRPr sz="1400" b="0" u="none" strike="noStrike" cap="none" dirty="0"/>
                    </a:p>
                  </a:txBody>
                  <a:tcPr marL="91425" marR="91425" marT="91425" marB="91425" anchor="ct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Time Allocation</a:t>
                      </a:r>
                      <a:endParaRPr sz="1400" b="1" u="none" strike="noStrike" cap="none"/>
                    </a:p>
                  </a:txBody>
                  <a:tcPr marL="91425" marR="91425" marT="91425" marB="91425" anchor="ctr"/>
                </a:tc>
                <a:tc>
                  <a:txBody>
                    <a:bodyPr/>
                    <a:lstStyle/>
                    <a:p>
                      <a:pPr marL="457200" marR="0" lvl="0" indent="-317500" algn="l" rtl="0">
                        <a:lnSpc>
                          <a:spcPct val="100000"/>
                        </a:lnSpc>
                        <a:spcBef>
                          <a:spcPts val="0"/>
                        </a:spcBef>
                        <a:spcAft>
                          <a:spcPts val="0"/>
                        </a:spcAft>
                        <a:buClr>
                          <a:srgbClr val="000000"/>
                        </a:buClr>
                        <a:buSzPts val="1400"/>
                        <a:buFont typeface="Arial"/>
                        <a:buChar char="-"/>
                      </a:pPr>
                      <a:r>
                        <a:rPr lang="en-US" sz="1400" u="none" strike="noStrike" cap="none" dirty="0"/>
                        <a:t>[Teacher] Task Debrief and Tutorial</a:t>
                      </a:r>
                      <a:r>
                        <a:rPr lang="en-US" sz="1400" u="none" strike="noStrike" cap="none" baseline="0" dirty="0"/>
                        <a:t> revision</a:t>
                      </a:r>
                      <a:r>
                        <a:rPr lang="en-US" sz="1400" u="none" strike="noStrike" cap="none" dirty="0"/>
                        <a:t>: 30 min</a:t>
                      </a:r>
                      <a:endParaRPr sz="1400" u="none" strike="noStrike" cap="none" dirty="0"/>
                    </a:p>
                    <a:p>
                      <a:pPr marL="457200" marR="0" lvl="0" indent="-317500" algn="l" rtl="0">
                        <a:lnSpc>
                          <a:spcPct val="100000"/>
                        </a:lnSpc>
                        <a:spcBef>
                          <a:spcPts val="0"/>
                        </a:spcBef>
                        <a:spcAft>
                          <a:spcPts val="0"/>
                        </a:spcAft>
                        <a:buClr>
                          <a:srgbClr val="000000"/>
                        </a:buClr>
                        <a:buSzPts val="1400"/>
                        <a:buFont typeface="Arial"/>
                        <a:buChar char="-"/>
                      </a:pPr>
                      <a:r>
                        <a:rPr lang="en-US" sz="1400" u="none" strike="noStrike" cap="none" dirty="0"/>
                        <a:t>[Student] Each Student have 100 min for the completion of 4 questions.</a:t>
                      </a:r>
                      <a:endParaRPr sz="1400" u="none" strike="noStrike" cap="none" dirty="0"/>
                    </a:p>
                  </a:txBody>
                  <a:tcPr marL="91425" marR="91425" marT="91425" marB="91425" anchor="ctr"/>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Clr>
                          <a:srgbClr val="000000"/>
                        </a:buClr>
                        <a:buSzPts val="1400"/>
                        <a:buFont typeface="Arial"/>
                        <a:buNone/>
                      </a:pPr>
                      <a:r>
                        <a:rPr lang="en-US" sz="1400" b="1" u="none" strike="noStrike" cap="none"/>
                        <a:t>Submission Of Work</a:t>
                      </a:r>
                      <a:endParaRPr sz="1400" b="1"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dirty="0"/>
                        <a:t>Direct review by the teacher </a:t>
                      </a:r>
                      <a:endParaRPr sz="1400" u="none" strike="noStrike" cap="none" dirty="0"/>
                    </a:p>
                  </a:txBody>
                  <a:tcPr marL="91425" marR="91425" marT="91425" marB="91425" anchor="ctr"/>
                </a:tc>
                <a:extLst>
                  <a:ext uri="{0D108BD9-81ED-4DB2-BD59-A6C34878D82A}">
                    <a16:rowId xmlns:a16="http://schemas.microsoft.com/office/drawing/2014/main" val="10003"/>
                  </a:ext>
                </a:extLst>
              </a:tr>
            </a:tbl>
          </a:graphicData>
        </a:graphic>
      </p:graphicFrame>
      <p:sp>
        <p:nvSpPr>
          <p:cNvPr id="98" name="Google Shape;98;g3b3d3acca01_1_16"/>
          <p:cNvSpPr txBox="1">
            <a:spLocks noGrp="1"/>
          </p:cNvSpPr>
          <p:nvPr>
            <p:ph type="title" idx="4294967295"/>
          </p:nvPr>
        </p:nvSpPr>
        <p:spPr>
          <a:xfrm>
            <a:off x="936175" y="332475"/>
            <a:ext cx="10972800" cy="1050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Workshop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g3b3d3acca01_2_16"/>
          <p:cNvSpPr/>
          <p:nvPr/>
        </p:nvSpPr>
        <p:spPr>
          <a:xfrm>
            <a:off x="547350" y="1093076"/>
            <a:ext cx="10814304" cy="5909270"/>
          </a:xfrm>
          <a:prstGeom prst="rect">
            <a:avLst/>
          </a:prstGeom>
          <a:noFill/>
          <a:ln>
            <a:noFill/>
          </a:ln>
        </p:spPr>
        <p:txBody>
          <a:bodyPr spcFirstLastPara="1" wrap="square" lIns="91425" tIns="45700" rIns="91425" bIns="45700" anchor="t" anchorCtr="0">
            <a:spAutoFit/>
          </a:bodyPr>
          <a:lstStyle/>
          <a:p>
            <a:pPr algn="l"/>
            <a:r>
              <a:rPr lang="en-US" sz="2800" b="1" i="0" dirty="0">
                <a:solidFill>
                  <a:srgbClr val="000000"/>
                </a:solidFill>
                <a:effectLst/>
              </a:rPr>
              <a:t>Question 1: Correlation matrix and Heatmap</a:t>
            </a:r>
          </a:p>
          <a:p>
            <a:pPr algn="l"/>
            <a:r>
              <a:rPr lang="en-US" b="0" i="0" dirty="0">
                <a:solidFill>
                  <a:srgbClr val="000000"/>
                </a:solidFill>
                <a:effectLst/>
              </a:rPr>
              <a:t>Using the housing dataset, compute the </a:t>
            </a:r>
            <a:r>
              <a:rPr lang="en-US" b="1" i="0" dirty="0">
                <a:solidFill>
                  <a:srgbClr val="000000"/>
                </a:solidFill>
                <a:effectLst/>
              </a:rPr>
              <a:t>correlation matrix</a:t>
            </a:r>
            <a:r>
              <a:rPr lang="en-US" b="0" i="0" dirty="0">
                <a:solidFill>
                  <a:srgbClr val="000000"/>
                </a:solidFill>
                <a:effectLst/>
              </a:rPr>
              <a:t> for all numerical variables. Also, </a:t>
            </a:r>
            <a:r>
              <a:rPr lang="en-US" dirty="0"/>
              <a:t>p</a:t>
            </a:r>
            <a:r>
              <a:rPr lang="en-US" b="0" i="0" dirty="0">
                <a:solidFill>
                  <a:srgbClr val="000000"/>
                </a:solidFill>
                <a:effectLst/>
              </a:rPr>
              <a:t>lot a </a:t>
            </a:r>
            <a:r>
              <a:rPr lang="en-US" b="1" i="0" dirty="0">
                <a:solidFill>
                  <a:srgbClr val="000000"/>
                </a:solidFill>
                <a:effectLst/>
              </a:rPr>
              <a:t>heatmap</a:t>
            </a:r>
            <a:r>
              <a:rPr lang="en-US" dirty="0"/>
              <a:t> and i</a:t>
            </a:r>
            <a:r>
              <a:rPr lang="en-US" b="0" i="0" dirty="0">
                <a:solidFill>
                  <a:srgbClr val="000000"/>
                </a:solidFill>
                <a:effectLst/>
              </a:rPr>
              <a:t>dentify:</a:t>
            </a:r>
          </a:p>
          <a:p>
            <a:pPr marL="742950" lvl="1" indent="-285750" algn="l">
              <a:buFont typeface="Arial" panose="020B0604020202020204" pitchFamily="34" charset="0"/>
              <a:buChar char="•"/>
            </a:pPr>
            <a:r>
              <a:rPr lang="en-US" b="0" i="0" dirty="0">
                <a:solidFill>
                  <a:srgbClr val="000000"/>
                </a:solidFill>
                <a:effectLst/>
              </a:rPr>
              <a:t>Which variable has the </a:t>
            </a:r>
            <a:r>
              <a:rPr lang="en-US" b="1" i="0" dirty="0">
                <a:solidFill>
                  <a:srgbClr val="000000"/>
                </a:solidFill>
                <a:effectLst/>
              </a:rPr>
              <a:t>strongest positive correlation with price</a:t>
            </a:r>
            <a:endParaRPr lang="en-US" b="0" i="0" dirty="0">
              <a:solidFill>
                <a:srgbClr val="000000"/>
              </a:solidFill>
              <a:effectLst/>
            </a:endParaRPr>
          </a:p>
          <a:p>
            <a:pPr marL="742950" lvl="1" indent="-285750" algn="l">
              <a:buFont typeface="Arial" panose="020B0604020202020204" pitchFamily="34" charset="0"/>
              <a:buChar char="•"/>
            </a:pPr>
            <a:r>
              <a:rPr lang="en-US" b="0" i="0" dirty="0">
                <a:solidFill>
                  <a:srgbClr val="000000"/>
                </a:solidFill>
                <a:effectLst/>
              </a:rPr>
              <a:t>Which variable has the </a:t>
            </a:r>
            <a:r>
              <a:rPr lang="en-US" b="1" i="0" dirty="0">
                <a:solidFill>
                  <a:srgbClr val="000000"/>
                </a:solidFill>
                <a:effectLst/>
              </a:rPr>
              <a:t>weakest relationship</a:t>
            </a:r>
          </a:p>
          <a:p>
            <a:pPr marL="742950" lvl="1" indent="-285750" algn="l">
              <a:buFont typeface="Arial" panose="020B0604020202020204" pitchFamily="34" charset="0"/>
              <a:buChar char="•"/>
            </a:pPr>
            <a:endParaRPr lang="en-US" b="0" i="0" dirty="0">
              <a:solidFill>
                <a:srgbClr val="000000"/>
              </a:solidFill>
              <a:effectLst/>
            </a:endParaRPr>
          </a:p>
          <a:p>
            <a:pPr algn="l"/>
            <a:r>
              <a:rPr lang="en-US" sz="2400" b="1" i="0" dirty="0">
                <a:solidFill>
                  <a:srgbClr val="000000"/>
                </a:solidFill>
                <a:effectLst/>
              </a:rPr>
              <a:t>Question 2: T-test</a:t>
            </a:r>
          </a:p>
          <a:p>
            <a:pPr algn="l"/>
            <a:r>
              <a:rPr lang="en-US" b="0" i="0" dirty="0">
                <a:solidFill>
                  <a:srgbClr val="000000"/>
                </a:solidFill>
                <a:effectLst/>
              </a:rPr>
              <a:t>Check whether houses with </a:t>
            </a:r>
            <a:r>
              <a:rPr lang="en-US" b="1" i="0" dirty="0">
                <a:solidFill>
                  <a:srgbClr val="000000"/>
                </a:solidFill>
                <a:effectLst/>
              </a:rPr>
              <a:t>air conditioning (</a:t>
            </a:r>
            <a:r>
              <a:rPr lang="en-US" b="1" i="0" dirty="0" err="1">
                <a:solidFill>
                  <a:srgbClr val="000000"/>
                </a:solidFill>
                <a:effectLst/>
              </a:rPr>
              <a:t>airconditioning</a:t>
            </a:r>
            <a:r>
              <a:rPr lang="en-US" b="1" i="0" dirty="0">
                <a:solidFill>
                  <a:srgbClr val="000000"/>
                </a:solidFill>
                <a:effectLst/>
              </a:rPr>
              <a:t>)</a:t>
            </a:r>
            <a:r>
              <a:rPr lang="en-US" b="0" i="0" dirty="0">
                <a:solidFill>
                  <a:srgbClr val="000000"/>
                </a:solidFill>
                <a:effectLst/>
              </a:rPr>
              <a:t> have a significantly different </a:t>
            </a:r>
            <a:r>
              <a:rPr lang="en-US" b="1" i="0" dirty="0">
                <a:solidFill>
                  <a:srgbClr val="000000"/>
                </a:solidFill>
                <a:effectLst/>
              </a:rPr>
              <a:t>average price</a:t>
            </a:r>
            <a:r>
              <a:rPr lang="en-US" b="0" i="0" dirty="0">
                <a:solidFill>
                  <a:srgbClr val="000000"/>
                </a:solidFill>
                <a:effectLst/>
              </a:rPr>
              <a:t> than houses without it.</a:t>
            </a:r>
          </a:p>
          <a:p>
            <a:pPr algn="l"/>
            <a:endParaRPr lang="en-US" b="0" i="0" dirty="0">
              <a:solidFill>
                <a:srgbClr val="000000"/>
              </a:solidFill>
              <a:effectLst/>
            </a:endParaRPr>
          </a:p>
          <a:p>
            <a:pPr algn="l"/>
            <a:r>
              <a:rPr lang="en-US" dirty="0">
                <a:solidFill>
                  <a:srgbClr val="FF0000"/>
                </a:solidFill>
              </a:rPr>
              <a:t>Hints:</a:t>
            </a:r>
            <a:endParaRPr lang="en-US" b="0" i="0" dirty="0">
              <a:solidFill>
                <a:srgbClr val="FF0000"/>
              </a:solidFill>
              <a:effectLst/>
            </a:endParaRPr>
          </a:p>
          <a:p>
            <a:pPr algn="l">
              <a:buFont typeface="Arial" panose="020B0604020202020204" pitchFamily="34" charset="0"/>
              <a:buChar char="•"/>
            </a:pPr>
            <a:r>
              <a:rPr lang="en-US" b="0" i="0" dirty="0">
                <a:solidFill>
                  <a:srgbClr val="000000"/>
                </a:solidFill>
                <a:effectLst/>
              </a:rPr>
              <a:t>Divide data into two groups:</a:t>
            </a:r>
          </a:p>
          <a:p>
            <a:pPr marL="742950" lvl="1" indent="-285750" algn="l">
              <a:buFont typeface="Arial" panose="020B0604020202020204" pitchFamily="34" charset="0"/>
              <a:buChar char="•"/>
            </a:pPr>
            <a:r>
              <a:rPr lang="en-US" b="0" i="0" dirty="0">
                <a:solidFill>
                  <a:srgbClr val="000000"/>
                </a:solidFill>
                <a:effectLst/>
              </a:rPr>
              <a:t>yes (with AC)</a:t>
            </a:r>
          </a:p>
          <a:p>
            <a:pPr marL="742950" lvl="1" indent="-285750" algn="l">
              <a:buFont typeface="Arial" panose="020B0604020202020204" pitchFamily="34" charset="0"/>
              <a:buChar char="•"/>
            </a:pPr>
            <a:r>
              <a:rPr lang="en-US" b="0" i="0" dirty="0">
                <a:solidFill>
                  <a:srgbClr val="000000"/>
                </a:solidFill>
                <a:effectLst/>
              </a:rPr>
              <a:t>no (without AC)</a:t>
            </a:r>
          </a:p>
          <a:p>
            <a:pPr algn="l">
              <a:buFont typeface="Arial" panose="020B0604020202020204" pitchFamily="34" charset="0"/>
              <a:buChar char="•"/>
            </a:pPr>
            <a:r>
              <a:rPr lang="en-US" b="0" i="0" dirty="0">
                <a:solidFill>
                  <a:srgbClr val="000000"/>
                </a:solidFill>
                <a:effectLst/>
              </a:rPr>
              <a:t>Perform </a:t>
            </a:r>
            <a:r>
              <a:rPr lang="en-US" b="1" i="0" dirty="0">
                <a:solidFill>
                  <a:srgbClr val="000000"/>
                </a:solidFill>
                <a:effectLst/>
              </a:rPr>
              <a:t>independent t-test</a:t>
            </a:r>
            <a:endParaRPr lang="en-US" b="0" i="0" dirty="0">
              <a:solidFill>
                <a:srgbClr val="000000"/>
              </a:solidFill>
              <a:effectLst/>
            </a:endParaRPr>
          </a:p>
          <a:p>
            <a:pPr algn="l">
              <a:buFont typeface="Arial" panose="020B0604020202020204" pitchFamily="34" charset="0"/>
              <a:buChar char="•"/>
            </a:pPr>
            <a:r>
              <a:rPr lang="en-US" b="0" i="0" dirty="0">
                <a:solidFill>
                  <a:srgbClr val="000000"/>
                </a:solidFill>
                <a:effectLst/>
              </a:rPr>
              <a:t>State:</a:t>
            </a:r>
          </a:p>
          <a:p>
            <a:pPr marL="742950" lvl="1" indent="-285750" algn="l">
              <a:buFont typeface="Arial" panose="020B0604020202020204" pitchFamily="34" charset="0"/>
              <a:buChar char="•"/>
            </a:pPr>
            <a:r>
              <a:rPr lang="en-US" b="0" i="0" dirty="0">
                <a:solidFill>
                  <a:srgbClr val="000000"/>
                </a:solidFill>
                <a:effectLst/>
              </a:rPr>
              <a:t>Null hypothesis (H₀)</a:t>
            </a:r>
          </a:p>
          <a:p>
            <a:pPr marL="742950" lvl="1" indent="-285750" algn="l">
              <a:buFont typeface="Arial" panose="020B0604020202020204" pitchFamily="34" charset="0"/>
              <a:buChar char="•"/>
            </a:pPr>
            <a:r>
              <a:rPr lang="en-US" b="0" i="0" dirty="0">
                <a:solidFill>
                  <a:srgbClr val="000000"/>
                </a:solidFill>
                <a:effectLst/>
              </a:rPr>
              <a:t>Alternative hypothesis (H₁)</a:t>
            </a:r>
          </a:p>
          <a:p>
            <a:pPr algn="l">
              <a:buFont typeface="Arial" panose="020B0604020202020204" pitchFamily="34" charset="0"/>
              <a:buChar char="•"/>
            </a:pPr>
            <a:r>
              <a:rPr lang="en-US" b="0" i="0" dirty="0">
                <a:solidFill>
                  <a:srgbClr val="000000"/>
                </a:solidFill>
                <a:effectLst/>
              </a:rPr>
              <a:t>Interpret the p-value</a:t>
            </a:r>
          </a:p>
          <a:p>
            <a:pPr algn="l"/>
            <a:endParaRPr lang="en-US" sz="2800" b="0" i="0" dirty="0">
              <a:solidFill>
                <a:srgbClr val="000000"/>
              </a:solidFill>
              <a:effectLst/>
            </a:endParaRPr>
          </a:p>
          <a:p>
            <a:pPr marL="342900" lvl="0" indent="-342900">
              <a:buFont typeface="Arial" panose="020B0604020202020204" pitchFamily="34" charset="0"/>
              <a:buChar char="•"/>
            </a:pPr>
            <a:endParaRPr lang="en-US" sz="2000" dirty="0"/>
          </a:p>
          <a:p>
            <a:pPr lvl="0"/>
            <a:endParaRPr lang="en-US" sz="2000" dirty="0"/>
          </a:p>
          <a:p>
            <a:pPr lvl="0"/>
            <a:endParaRPr lang="en-US" sz="2000" dirty="0"/>
          </a:p>
          <a:p>
            <a:pPr lvl="0"/>
            <a:endParaRPr lang="en-US" dirty="0"/>
          </a:p>
          <a:p>
            <a:pPr lvl="0"/>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g3b3d3acca01_2_16"/>
          <p:cNvSpPr/>
          <p:nvPr/>
        </p:nvSpPr>
        <p:spPr>
          <a:xfrm>
            <a:off x="879085" y="562681"/>
            <a:ext cx="10814304" cy="4555053"/>
          </a:xfrm>
          <a:prstGeom prst="rect">
            <a:avLst/>
          </a:prstGeom>
          <a:noFill/>
          <a:ln>
            <a:noFill/>
          </a:ln>
        </p:spPr>
        <p:txBody>
          <a:bodyPr spcFirstLastPara="1" wrap="square" lIns="91425" tIns="45700" rIns="91425" bIns="45700" anchor="t" anchorCtr="0">
            <a:spAutoFit/>
          </a:bodyPr>
          <a:lstStyle/>
          <a:p>
            <a:pPr algn="l"/>
            <a:r>
              <a:rPr lang="en-US" sz="3200" b="1" i="0" dirty="0">
                <a:solidFill>
                  <a:srgbClr val="000000"/>
                </a:solidFill>
                <a:effectLst/>
              </a:rPr>
              <a:t>Question 3: Z-test</a:t>
            </a:r>
          </a:p>
          <a:p>
            <a:pPr algn="l"/>
            <a:r>
              <a:rPr lang="en-US" b="0" i="0" dirty="0">
                <a:solidFill>
                  <a:srgbClr val="000000"/>
                </a:solidFill>
                <a:effectLst/>
              </a:rPr>
              <a:t>Assume the </a:t>
            </a:r>
            <a:r>
              <a:rPr lang="en-US" b="1" i="0" dirty="0">
                <a:solidFill>
                  <a:srgbClr val="000000"/>
                </a:solidFill>
                <a:effectLst/>
              </a:rPr>
              <a:t>population mean house price</a:t>
            </a:r>
            <a:r>
              <a:rPr lang="en-US" b="0" i="0" dirty="0">
                <a:solidFill>
                  <a:srgbClr val="000000"/>
                </a:solidFill>
                <a:effectLst/>
              </a:rPr>
              <a:t> is 7,000,000.</a:t>
            </a:r>
          </a:p>
          <a:p>
            <a:pPr algn="l"/>
            <a:r>
              <a:rPr lang="en-US" b="0" i="0" dirty="0">
                <a:solidFill>
                  <a:srgbClr val="000000"/>
                </a:solidFill>
                <a:effectLst/>
              </a:rPr>
              <a:t>Test whether the average house price in your dataset is significantly different from this value using a </a:t>
            </a:r>
            <a:r>
              <a:rPr lang="en-US" b="1" i="0" dirty="0">
                <a:solidFill>
                  <a:srgbClr val="000000"/>
                </a:solidFill>
                <a:effectLst/>
              </a:rPr>
              <a:t>z-test</a:t>
            </a:r>
            <a:r>
              <a:rPr lang="en-US" b="0" i="0" dirty="0">
                <a:solidFill>
                  <a:srgbClr val="000000"/>
                </a:solidFill>
                <a:effectLst/>
              </a:rPr>
              <a:t>.</a:t>
            </a:r>
          </a:p>
          <a:p>
            <a:pPr algn="l"/>
            <a:endParaRPr lang="en-US" b="0" i="0" dirty="0">
              <a:solidFill>
                <a:srgbClr val="000000"/>
              </a:solidFill>
              <a:effectLst/>
            </a:endParaRPr>
          </a:p>
          <a:p>
            <a:pPr algn="l"/>
            <a:r>
              <a:rPr lang="en-US" b="0" i="0" dirty="0">
                <a:solidFill>
                  <a:srgbClr val="FF0000"/>
                </a:solidFill>
                <a:effectLst/>
              </a:rPr>
              <a:t>Hints:</a:t>
            </a:r>
          </a:p>
          <a:p>
            <a:pPr algn="l">
              <a:buFont typeface="Arial" panose="020B0604020202020204" pitchFamily="34" charset="0"/>
              <a:buChar char="•"/>
            </a:pPr>
            <a:r>
              <a:rPr lang="en-US" b="0" i="0" dirty="0">
                <a:solidFill>
                  <a:srgbClr val="000000"/>
                </a:solidFill>
                <a:effectLst/>
              </a:rPr>
              <a:t>Define hypotheses</a:t>
            </a:r>
          </a:p>
          <a:p>
            <a:pPr algn="l">
              <a:buFont typeface="Arial" panose="020B0604020202020204" pitchFamily="34" charset="0"/>
              <a:buChar char="•"/>
            </a:pPr>
            <a:r>
              <a:rPr lang="en-US" b="0" i="0" dirty="0">
                <a:solidFill>
                  <a:srgbClr val="000000"/>
                </a:solidFill>
                <a:effectLst/>
              </a:rPr>
              <a:t>Compute z-score</a:t>
            </a:r>
          </a:p>
          <a:p>
            <a:pPr algn="l">
              <a:buFont typeface="Arial" panose="020B0604020202020204" pitchFamily="34" charset="0"/>
              <a:buChar char="•"/>
            </a:pPr>
            <a:r>
              <a:rPr lang="en-US" b="0" i="0" dirty="0">
                <a:solidFill>
                  <a:srgbClr val="000000"/>
                </a:solidFill>
                <a:effectLst/>
              </a:rPr>
              <a:t>Interpret result at 5% significance level</a:t>
            </a:r>
          </a:p>
          <a:p>
            <a:pPr algn="l"/>
            <a:endParaRPr lang="en-US" sz="2400" b="1" i="0" dirty="0">
              <a:solidFill>
                <a:srgbClr val="000000"/>
              </a:solidFill>
              <a:effectLst/>
            </a:endParaRPr>
          </a:p>
          <a:p>
            <a:pPr algn="l"/>
            <a:r>
              <a:rPr lang="en-US" sz="2400" b="1" i="0" dirty="0">
                <a:solidFill>
                  <a:srgbClr val="000000"/>
                </a:solidFill>
                <a:effectLst/>
              </a:rPr>
              <a:t>Question 4: Chi-Square Test</a:t>
            </a:r>
          </a:p>
          <a:p>
            <a:pPr algn="l"/>
            <a:r>
              <a:rPr lang="en-US" b="0" i="0" dirty="0">
                <a:solidFill>
                  <a:srgbClr val="000000"/>
                </a:solidFill>
                <a:effectLst/>
              </a:rPr>
              <a:t>Test whether </a:t>
            </a:r>
            <a:r>
              <a:rPr lang="en-US" b="1" i="0" dirty="0">
                <a:solidFill>
                  <a:srgbClr val="000000"/>
                </a:solidFill>
                <a:effectLst/>
              </a:rPr>
              <a:t>furnishing status (</a:t>
            </a:r>
            <a:r>
              <a:rPr lang="en-US" b="1" i="0" dirty="0" err="1">
                <a:solidFill>
                  <a:srgbClr val="000000"/>
                </a:solidFill>
                <a:effectLst/>
              </a:rPr>
              <a:t>furnishingstatus</a:t>
            </a:r>
            <a:r>
              <a:rPr lang="en-US" b="1" i="0" dirty="0">
                <a:solidFill>
                  <a:srgbClr val="000000"/>
                </a:solidFill>
                <a:effectLst/>
              </a:rPr>
              <a:t>)</a:t>
            </a:r>
            <a:r>
              <a:rPr lang="en-US" b="0" i="0" dirty="0">
                <a:solidFill>
                  <a:srgbClr val="000000"/>
                </a:solidFill>
                <a:effectLst/>
              </a:rPr>
              <a:t> is independent of </a:t>
            </a:r>
            <a:r>
              <a:rPr lang="en-US" b="1" i="0" dirty="0">
                <a:solidFill>
                  <a:srgbClr val="000000"/>
                </a:solidFill>
                <a:effectLst/>
              </a:rPr>
              <a:t>preferred area (</a:t>
            </a:r>
            <a:r>
              <a:rPr lang="en-US" b="1" i="0" dirty="0" err="1">
                <a:solidFill>
                  <a:srgbClr val="000000"/>
                </a:solidFill>
                <a:effectLst/>
              </a:rPr>
              <a:t>prefarea</a:t>
            </a:r>
            <a:r>
              <a:rPr lang="en-US" b="1" i="0" dirty="0">
                <a:solidFill>
                  <a:srgbClr val="000000"/>
                </a:solidFill>
                <a:effectLst/>
              </a:rPr>
              <a:t>)</a:t>
            </a:r>
            <a:r>
              <a:rPr lang="en-US" b="0" i="0" dirty="0">
                <a:solidFill>
                  <a:srgbClr val="000000"/>
                </a:solidFill>
                <a:effectLst/>
              </a:rPr>
              <a:t>.</a:t>
            </a:r>
          </a:p>
          <a:p>
            <a:pPr algn="l"/>
            <a:r>
              <a:rPr lang="en-US" b="0" i="0" dirty="0">
                <a:solidFill>
                  <a:srgbClr val="FF0000"/>
                </a:solidFill>
                <a:effectLst/>
              </a:rPr>
              <a:t>Hints: </a:t>
            </a:r>
          </a:p>
          <a:p>
            <a:pPr algn="l">
              <a:buFont typeface="Arial" panose="020B0604020202020204" pitchFamily="34" charset="0"/>
              <a:buChar char="•"/>
            </a:pPr>
            <a:r>
              <a:rPr lang="en-US" b="0" i="0" dirty="0">
                <a:solidFill>
                  <a:srgbClr val="000000"/>
                </a:solidFill>
                <a:effectLst/>
              </a:rPr>
              <a:t>Create contingency table</a:t>
            </a:r>
          </a:p>
          <a:p>
            <a:pPr algn="l">
              <a:buFont typeface="Arial" panose="020B0604020202020204" pitchFamily="34" charset="0"/>
              <a:buChar char="•"/>
            </a:pPr>
            <a:r>
              <a:rPr lang="en-US" b="0" i="0" dirty="0">
                <a:solidFill>
                  <a:srgbClr val="000000"/>
                </a:solidFill>
                <a:effectLst/>
              </a:rPr>
              <a:t>Perform chi-square test</a:t>
            </a:r>
          </a:p>
          <a:p>
            <a:pPr algn="l">
              <a:buFont typeface="Arial" panose="020B0604020202020204" pitchFamily="34" charset="0"/>
              <a:buChar char="•"/>
            </a:pPr>
            <a:r>
              <a:rPr lang="en-US" b="0" i="0" dirty="0">
                <a:solidFill>
                  <a:srgbClr val="000000"/>
                </a:solidFill>
                <a:effectLst/>
              </a:rPr>
              <a:t>State:</a:t>
            </a:r>
          </a:p>
          <a:p>
            <a:pPr marL="742950" lvl="1" indent="-285750" algn="l">
              <a:buFont typeface="Arial" panose="020B0604020202020204" pitchFamily="34" charset="0"/>
              <a:buChar char="•"/>
            </a:pPr>
            <a:r>
              <a:rPr lang="en-US" b="0" i="0" dirty="0">
                <a:solidFill>
                  <a:srgbClr val="000000"/>
                </a:solidFill>
                <a:effectLst/>
              </a:rPr>
              <a:t>H₀: No relationship</a:t>
            </a:r>
          </a:p>
          <a:p>
            <a:pPr marL="742950" lvl="1" indent="-285750" algn="l">
              <a:buFont typeface="Arial" panose="020B0604020202020204" pitchFamily="34" charset="0"/>
              <a:buChar char="•"/>
            </a:pPr>
            <a:r>
              <a:rPr lang="en-US" b="0" i="0" dirty="0">
                <a:solidFill>
                  <a:srgbClr val="000000"/>
                </a:solidFill>
                <a:effectLst/>
              </a:rPr>
              <a:t>H₁: Relationship exists</a:t>
            </a:r>
          </a:p>
          <a:p>
            <a:pPr algn="l">
              <a:buFont typeface="Arial" panose="020B0604020202020204" pitchFamily="34" charset="0"/>
              <a:buChar char="•"/>
            </a:pPr>
            <a:r>
              <a:rPr lang="en-US" b="0" i="0" dirty="0">
                <a:solidFill>
                  <a:srgbClr val="000000"/>
                </a:solidFill>
                <a:effectLst/>
              </a:rPr>
              <a:t>Interpret p-value</a:t>
            </a:r>
          </a:p>
        </p:txBody>
      </p:sp>
    </p:spTree>
    <p:extLst>
      <p:ext uri="{BB962C8B-B14F-4D97-AF65-F5344CB8AC3E}">
        <p14:creationId xmlns:p14="http://schemas.microsoft.com/office/powerpoint/2010/main" val="377830172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TotalTime>
  <Words>336</Words>
  <Application>Microsoft Macintosh PowerPoint</Application>
  <PresentationFormat>Widescreen</PresentationFormat>
  <Paragraphs>49</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Play</vt:lpstr>
      <vt:lpstr>Office Theme</vt:lpstr>
      <vt:lpstr>Workshop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dc:title>
  <dc:creator>Ayush Pradhanang</dc:creator>
  <cp:lastModifiedBy>Subarna Sapkota</cp:lastModifiedBy>
  <cp:revision>7</cp:revision>
  <dcterms:created xsi:type="dcterms:W3CDTF">2025-12-25T07:25:54Z</dcterms:created>
  <dcterms:modified xsi:type="dcterms:W3CDTF">2026-03-26T15:45:13Z</dcterms:modified>
</cp:coreProperties>
</file>